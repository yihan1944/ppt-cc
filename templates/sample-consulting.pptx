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目标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3.6</c:v>
                </c:pt>
                <c:pt idx="2">
                  <c:v>4.8</c:v>
                </c:pt>
                <c:pt idx="3">
                  <c:v>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重点强调 AI 产品线的增长势头，这是 Q4 需要持续投入的方向。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Q3 业务复盘与 Q4 战略规划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3F6B5C"/>
                </a:solidFill>
                <a:latin typeface="Calibri"/>
              </a:rPr>
              <a:t>战略部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3F6B5C"/>
                </a:solidFill>
                <a:latin typeface="Calibri"/>
              </a:rPr>
              <a:t>2026年度第三季度总结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29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F6B5C"/>
                </a:solidFill>
                <a:latin typeface="Calibri Ligh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29359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  <a:latin typeface="Calibri"/>
              </a:rPr>
              <a:t>Q3 核心业绩回顾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0310"/>
            <a:ext cx="10728655" cy="9144"/>
          </a:xfrm>
          <a:prstGeom prst="rect">
            <a:avLst/>
          </a:prstGeom>
          <a:solidFill>
            <a:srgbClr val="E8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378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F6B5C"/>
                </a:solidFill>
                <a:latin typeface="Calibri Ligh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3789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  <a:latin typeface="Calibri"/>
              </a:rPr>
              <a:t>市场格局与竞争分析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34739"/>
            <a:ext cx="10728655" cy="9144"/>
          </a:xfrm>
          <a:prstGeom prst="rect">
            <a:avLst/>
          </a:prstGeom>
          <a:solidFill>
            <a:srgbClr val="E8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3821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F6B5C"/>
                </a:solidFill>
                <a:latin typeface="Calibri Ligh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38218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  <a:latin typeface="Calibri"/>
              </a:rPr>
              <a:t>关键项目进展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89170"/>
            <a:ext cx="10728655" cy="9144"/>
          </a:xfrm>
          <a:prstGeom prst="rect">
            <a:avLst/>
          </a:prstGeom>
          <a:solidFill>
            <a:srgbClr val="E8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9264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F6B5C"/>
                </a:solidFill>
                <a:latin typeface="Calibri Ligh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92648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  <a:latin typeface="Calibri"/>
              </a:rPr>
              <a:t>Q4 战略优先级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Q3 核心业绩超出预期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39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营收同比增长 23%，达 4.8 亿元，超目标 12%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新增企业客户 1,200 家，留存率提升至 94%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毛利率改善 3.2 个百分点，达 62.5%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AI 产品线贡献营收占比达 18%，环比翻倍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增长引擎 vs 待解挑战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900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6B5C"/>
                </a:solidFill>
                <a:latin typeface="Calibri Light"/>
              </a:rPr>
              <a:t>增长引擎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AI 产品线 ARR 突破 8,000 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华东区域市占率升至 35%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大客户续约率达 96%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0127" y="1508760"/>
            <a:ext cx="7315" cy="4114800"/>
          </a:xfrm>
          <a:prstGeom prst="rect">
            <a:avLst/>
          </a:prstGeom>
          <a:solidFill>
            <a:srgbClr val="E8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0167" y="1508760"/>
            <a:ext cx="50900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F6B5C"/>
                </a:solidFill>
                <a:latin typeface="Calibri Light"/>
              </a:rPr>
              <a:t>待解挑战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201168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华南拓展进度滞后 2 个月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技术人才缺口影响交付效率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竞品 B 系列产品价格战压力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季度营收趋势（单位：亿元）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08760"/>
          <a:ext cx="1072865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AI 产品成为差异化核心壁垒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39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自研大模型准确率领先竞品 15 个百分点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客户使用 AI 功能后效率提升 40%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竞品尚未推出同类 AI 解决方案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—  专利申请 12 项，技术护城河持续加深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 Light"/>
              </a:rPr>
              <a:t>重点项目进展总览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项目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负责人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进度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状态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智能客服 2.0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张明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即将上线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数据中台迁移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李华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按计划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华南区域拓展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王芳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需加速</a:t>
                      </a:r>
                    </a:p>
                  </a:txBody>
                  <a:tcPr>
                    <a:solidFill>
                      <a:srgbClr val="F8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AI 安全合规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陈伟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D2D2D"/>
                          </a:solidFill>
                          <a:latin typeface="Calibri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0"/>
            <a:ext cx="79854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1F2A44"/>
                </a:solidFill>
                <a:latin typeface="Calibri Light"/>
              </a:rPr>
              <a:t>“未来属于那些在别人还在观望时，就已经开始行动的人。”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754880"/>
            <a:ext cx="79854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F8C8B"/>
                </a:solidFill>
                <a:latin typeface="Calibri"/>
              </a:rPr>
              <a:t>— 彼得·德鲁克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8C8B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8899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7F8C8B"/>
                </a:solidFill>
                <a:latin typeface="Calibr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88998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Calibri Light"/>
              </a:rPr>
              <a:t>Q4 核心战略：以 AI 产品为增长引擎，加速华南布局，巩固技术护城河。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F6B5C"/>
                </a:solidFill>
                <a:latin typeface="Calibri"/>
              </a:rPr>
              <a:t>战略部 · strategy@company.com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