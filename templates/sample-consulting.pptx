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营收</c:v>
                </c:pt>
              </c:strCache>
            </c:strRef>
          </c:tx>
          <c:spPr>
            <a:solidFill>
              <a:srgbClr val="1F2A44"/>
            </a:solidFill>
          </c:spPr>
          <c:cat>
            <c:strRef>
              <c:f>Sheet1!$A$2:$A$5</c:f>
              <c:strCache>
                <c:ptCount val="4"/>
                <c:pt idx="0">
                  <c:v>Q1 2025</c:v>
                </c:pt>
                <c:pt idx="1">
                  <c:v>Q2 2025</c:v>
                </c:pt>
                <c:pt idx="2">
                  <c:v>Q3 2025</c:v>
                </c:pt>
                <c:pt idx="3">
                  <c:v>Q4 目标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3.2</c:v>
                </c:pt>
                <c:pt idx="1">
                  <c:v>3.6</c:v>
                </c:pt>
                <c:pt idx="2">
                  <c:v>4.8</c:v>
                </c:pt>
                <c:pt idx="3">
                  <c:v>5.2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 Light"/>
              </a:rPr>
              <a:t>Q3 业务复盘与 Q4 战略规划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>
                <a:solidFill>
                  <a:srgbClr val="3F6B5C"/>
                </a:solidFill>
                <a:latin typeface="Calibri"/>
              </a:rPr>
              <a:t>战略部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0332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>
                <a:solidFill>
                  <a:srgbClr val="3F6B5C"/>
                </a:solidFill>
                <a:latin typeface="Calibri"/>
              </a:rPr>
              <a:t>2026年度第三季度总结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Calibri Light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F8C8B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2935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3F6B5C"/>
                </a:solidFill>
                <a:latin typeface="Calibri Ligh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729359"/>
            <a:ext cx="99971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2D2D2D"/>
                </a:solidFill>
                <a:latin typeface="Calibri"/>
              </a:rPr>
              <a:t>Q3 核心业绩回顾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480310"/>
            <a:ext cx="10728655" cy="9144"/>
          </a:xfrm>
          <a:prstGeom prst="rect">
            <a:avLst/>
          </a:prstGeom>
          <a:solidFill>
            <a:srgbClr val="E8E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8378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3F6B5C"/>
                </a:solidFill>
                <a:latin typeface="Calibri Ligh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883789"/>
            <a:ext cx="99971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2D2D2D"/>
                </a:solidFill>
                <a:latin typeface="Calibri"/>
              </a:rPr>
              <a:t>市场格局与竞争分析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34739"/>
            <a:ext cx="10728655" cy="9144"/>
          </a:xfrm>
          <a:prstGeom prst="rect">
            <a:avLst/>
          </a:prstGeom>
          <a:solidFill>
            <a:srgbClr val="E8E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038218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3F6B5C"/>
                </a:solidFill>
                <a:latin typeface="Calibri Ligh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038218"/>
            <a:ext cx="99971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2D2D2D"/>
                </a:solidFill>
                <a:latin typeface="Calibri"/>
              </a:rPr>
              <a:t>关键项目进展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789170"/>
            <a:ext cx="10728655" cy="9144"/>
          </a:xfrm>
          <a:prstGeom prst="rect">
            <a:avLst/>
          </a:prstGeom>
          <a:solidFill>
            <a:srgbClr val="E8E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192648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800" b="1">
                <a:solidFill>
                  <a:srgbClr val="3F6B5C"/>
                </a:solidFill>
                <a:latin typeface="Calibri Ligh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192648"/>
            <a:ext cx="99971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2D2D2D"/>
                </a:solidFill>
                <a:latin typeface="Calibri"/>
              </a:rPr>
              <a:t>Q4 战略优先级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Calibri Light"/>
              </a:rPr>
              <a:t>Q3 核心业绩超出预期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F8C8B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2D2D2D"/>
                </a:solidFill>
                <a:latin typeface="Calibri"/>
              </a:rPr>
              <a:t>—  营收同比增长 23%，达 4.8 亿元，超目标 12%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2D2D2D"/>
                </a:solidFill>
                <a:latin typeface="Calibri"/>
              </a:rPr>
              <a:t>—  新增企业客户 1,200 家，留存率提升至 94%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2D2D2D"/>
                </a:solidFill>
                <a:latin typeface="Calibri"/>
              </a:rPr>
              <a:t>—  毛利率改善 3.2 个百分点，达 62.5%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2D2D2D"/>
                </a:solidFill>
                <a:latin typeface="Calibri"/>
              </a:rPr>
              <a:t>—  AI 产品线贡献营收占比达 18%，环比翻倍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Calibri Light"/>
              </a:rPr>
              <a:t>增长引擎 vs 待解挑战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F8C8B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9000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3F6B5C"/>
                </a:solidFill>
                <a:latin typeface="Calibri Light"/>
              </a:rPr>
              <a:t>增长引擎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509000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2D2D2D"/>
                </a:solidFill>
                <a:latin typeface="Calibri"/>
              </a:rPr>
              <a:t>—  AI 产品线 ARR 突破 8,000 万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2D2D2D"/>
                </a:solidFill>
                <a:latin typeface="Calibri"/>
              </a:rPr>
              <a:t>—  华东区域市占率升至 35%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2D2D2D"/>
                </a:solidFill>
                <a:latin typeface="Calibri"/>
              </a:rPr>
              <a:t>—  大客户续约率达 96%</a:t>
            </a:r>
          </a:p>
        </p:txBody>
      </p:sp>
      <p:sp>
        <p:nvSpPr>
          <p:cNvPr id="7" name="Rectangle 6"/>
          <p:cNvSpPr/>
          <p:nvPr/>
        </p:nvSpPr>
        <p:spPr>
          <a:xfrm>
            <a:off x="6050127" y="1554480"/>
            <a:ext cx="7315" cy="4114800"/>
          </a:xfrm>
          <a:prstGeom prst="rect">
            <a:avLst/>
          </a:prstGeom>
          <a:solidFill>
            <a:srgbClr val="E8E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70167" y="1554480"/>
            <a:ext cx="509000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3F6B5C"/>
                </a:solidFill>
                <a:latin typeface="Calibri Light"/>
              </a:rPr>
              <a:t>待解挑战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167" y="2057400"/>
            <a:ext cx="509000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2D2D2D"/>
                </a:solidFill>
                <a:latin typeface="Calibri"/>
              </a:rPr>
              <a:t>—  华南拓展进度滞后 2 个月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2D2D2D"/>
                </a:solidFill>
                <a:latin typeface="Calibri"/>
              </a:rPr>
              <a:t>—  技术人才缺口影响交付效率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2D2D2D"/>
                </a:solidFill>
                <a:latin typeface="Calibri"/>
              </a:rPr>
              <a:t>—  竞品 B 系列产品价格战压力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Calibri Light"/>
              </a:rPr>
              <a:t>季度营收趋势（单位：亿元）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F8C8B"/>
                </a:solidFill>
                <a:latin typeface="Calibri"/>
              </a:rPr>
              <a:t>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1508760"/>
          <a:ext cx="10728655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Calibri Light"/>
              </a:rPr>
              <a:t>AI 产品成为差异化核心壁垒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F8C8B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2D2D2D"/>
                </a:solidFill>
                <a:latin typeface="Calibri"/>
              </a:rPr>
              <a:t>—  自研大模型准确率领先竞品 15 个百分点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2D2D2D"/>
                </a:solidFill>
                <a:latin typeface="Calibri"/>
              </a:rPr>
              <a:t>—  客户使用 AI 功能后效率提升 40%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2D2D2D"/>
                </a:solidFill>
                <a:latin typeface="Calibri"/>
              </a:rPr>
              <a:t>—  竞品尚未推出同类 AI 解决方案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2D2D2D"/>
                </a:solidFill>
                <a:latin typeface="Calibri"/>
              </a:rPr>
              <a:t>—  专利申请 12 项，技术护城河持续加深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2A44"/>
                </a:solidFill>
                <a:latin typeface="Calibri Light"/>
              </a:rPr>
              <a:t>重点项目进展总览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F8C8B"/>
                </a:solidFill>
                <a:latin typeface="Calibri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08760"/>
          <a:ext cx="7315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项目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负责人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进度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状态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D2D2D"/>
                          </a:solidFill>
                          <a:latin typeface="Calibri"/>
                        </a:rPr>
                        <a:t>智能客服 2.0</a:t>
                      </a:r>
                    </a:p>
                  </a:txBody>
                  <a:tcPr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D2D2D"/>
                          </a:solidFill>
                          <a:latin typeface="Calibri"/>
                        </a:rPr>
                        <a:t>张明</a:t>
                      </a:r>
                    </a:p>
                  </a:txBody>
                  <a:tcPr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D2D2D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D2D2D"/>
                          </a:solidFill>
                          <a:latin typeface="Calibri"/>
                        </a:rPr>
                        <a:t>即将上线</a:t>
                      </a:r>
                    </a:p>
                  </a:txBody>
                  <a:tcPr>
                    <a:solidFill>
                      <a:srgbClr val="F8F8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D2D2D"/>
                          </a:solidFill>
                          <a:latin typeface="Calibri"/>
                        </a:rPr>
                        <a:t>数据中台迁移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D2D2D"/>
                          </a:solidFill>
                          <a:latin typeface="Calibri"/>
                        </a:rPr>
                        <a:t>李华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D2D2D"/>
                          </a:solidFill>
                          <a:latin typeface="Calibri"/>
                        </a:rPr>
                        <a:t>78%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D2D2D"/>
                          </a:solidFill>
                          <a:latin typeface="Calibri"/>
                        </a:rPr>
                        <a:t>按计划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D2D2D"/>
                          </a:solidFill>
                          <a:latin typeface="Calibri"/>
                        </a:rPr>
                        <a:t>华南区域拓展</a:t>
                      </a:r>
                    </a:p>
                  </a:txBody>
                  <a:tcPr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D2D2D"/>
                          </a:solidFill>
                          <a:latin typeface="Calibri"/>
                        </a:rPr>
                        <a:t>王芳</a:t>
                      </a:r>
                    </a:p>
                  </a:txBody>
                  <a:tcPr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D2D2D"/>
                          </a:solidFill>
                          <a:latin typeface="Calibri"/>
                        </a:rPr>
                        <a:t>60%</a:t>
                      </a:r>
                    </a:p>
                  </a:txBody>
                  <a:tcPr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D2D2D"/>
                          </a:solidFill>
                          <a:latin typeface="Calibri"/>
                        </a:rPr>
                        <a:t>需加速</a:t>
                      </a:r>
                    </a:p>
                  </a:txBody>
                  <a:tcPr>
                    <a:solidFill>
                      <a:srgbClr val="F8F8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D2D2D"/>
                          </a:solidFill>
                          <a:latin typeface="Calibri"/>
                        </a:rPr>
                        <a:t>AI 安全合规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D2D2D"/>
                          </a:solidFill>
                          <a:latin typeface="Calibri"/>
                        </a:rPr>
                        <a:t>陈伟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D2D2D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D2D2D"/>
                          </a:solidFill>
                          <a:latin typeface="Calibri"/>
                        </a:rPr>
                        <a:t>已完成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F8C8B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2286000"/>
            <a:ext cx="79854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1F2A44"/>
                </a:solidFill>
                <a:latin typeface="Calibri Light"/>
              </a:rPr>
              <a:t>“未来属于那些在别人还在观望时，就已经开始行动的人。”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4754880"/>
            <a:ext cx="79854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7F8C8B"/>
                </a:solidFill>
                <a:latin typeface="Calibri"/>
              </a:rPr>
              <a:t>— 彼得·德鲁克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7F8C8B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2194560"/>
            <a:ext cx="88998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7F8C8B"/>
                </a:solidFill>
                <a:latin typeface="Calibri"/>
              </a:rPr>
              <a:t>KEY 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2743200"/>
            <a:ext cx="88998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F2A44"/>
                </a:solidFill>
                <a:latin typeface="Calibri Light"/>
              </a:rPr>
              <a:t>Q4 核心战略：以 AI 产品为增长引擎，加速华南布局，巩固技术护城河。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3F6B5C"/>
                </a:solidFill>
                <a:latin typeface="Calibri"/>
              </a:rPr>
              <a:t>战略部 · strategy@company.com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